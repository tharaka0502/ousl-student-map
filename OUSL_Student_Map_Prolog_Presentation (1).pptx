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BDAD3"/>
                </a:solidFill>
                <a:latin typeface="Aptos"/>
              </a:defRPr>
            </a:pPr>
            <a:r>
              <a:t>OUSL  •  BSc IT  •  PROLOG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OUSL Student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DDE8F1"/>
                </a:solidFill>
                <a:latin typeface="Aptos"/>
              </a:defRPr>
            </a:pPr>
            <a:r>
              <a:t>Route representation, travel estimates and search algorithms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5074920"/>
            <a:ext cx="292608" cy="292608"/>
          </a:xfrm>
          <a:prstGeom prst="ellipse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207008" y="4672584"/>
            <a:ext cx="1764792" cy="548640"/>
          </a:xfrm>
          <a:prstGeom prst="line">
            <a:avLst/>
          </a:prstGeom>
          <a:ln w="25400">
            <a:solidFill>
              <a:srgbClr val="9B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971800" y="4526280"/>
            <a:ext cx="292608" cy="292608"/>
          </a:xfrm>
          <a:prstGeom prst="ellipse">
            <a:avLst/>
          </a:prstGeom>
          <a:solidFill>
            <a:srgbClr val="E6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264408" y="4672584"/>
            <a:ext cx="1810512" cy="548640"/>
          </a:xfrm>
          <a:prstGeom prst="line">
            <a:avLst/>
          </a:prstGeom>
          <a:ln w="25400">
            <a:solidFill>
              <a:srgbClr val="9B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74920" y="5074920"/>
            <a:ext cx="292608" cy="292608"/>
          </a:xfrm>
          <a:prstGeom prst="ellipse">
            <a:avLst/>
          </a:prstGeom>
          <a:solidFill>
            <a:srgbClr val="E6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5367528" y="4672584"/>
            <a:ext cx="1810512" cy="548640"/>
          </a:xfrm>
          <a:prstGeom prst="line">
            <a:avLst/>
          </a:prstGeom>
          <a:ln w="25400">
            <a:solidFill>
              <a:srgbClr val="9B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178040" y="4526280"/>
            <a:ext cx="292608" cy="292608"/>
          </a:xfrm>
          <a:prstGeom prst="ellipse">
            <a:avLst/>
          </a:prstGeom>
          <a:solidFill>
            <a:srgbClr val="E6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470648" y="4672584"/>
            <a:ext cx="1810512" cy="548640"/>
          </a:xfrm>
          <a:prstGeom prst="line">
            <a:avLst/>
          </a:prstGeom>
          <a:ln w="25400">
            <a:solidFill>
              <a:srgbClr val="9B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81160" y="5074920"/>
            <a:ext cx="292608" cy="292608"/>
          </a:xfrm>
          <a:prstGeom prst="ellipse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Start: Embilipitiya     •     Destination: OUSL, Nawala (CRC)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6313D"/>
                </a:solidFill>
                <a:latin typeface="Aptos"/>
              </a:defRPr>
            </a:pPr>
            <a:r>
              <a:t>•  Students need to compare possible routes to the OUSL CRC destination.</a:t>
            </a:r>
          </a:p>
          <a:p>
            <a:pPr>
              <a:spcAft>
                <a:spcPts val="1500"/>
              </a:spcAft>
              <a:defRPr sz="2200">
                <a:solidFill>
                  <a:srgbClr val="26313D"/>
                </a:solidFill>
                <a:latin typeface="Aptos"/>
              </a:defRPr>
            </a:pPr>
            <a:r>
              <a:t>•  Each road segment stores a transport method, estimated time and cost.</a:t>
            </a:r>
          </a:p>
          <a:p>
            <a:pPr>
              <a:spcAft>
                <a:spcPts val="1500"/>
              </a:spcAft>
              <a:defRPr sz="2200">
                <a:solidFill>
                  <a:srgbClr val="26313D"/>
                </a:solidFill>
                <a:latin typeface="Aptos"/>
              </a:defRPr>
            </a:pPr>
            <a:r>
              <a:t>•  Some roads may be blocked, so unavailable segments must be excluded.</a:t>
            </a:r>
          </a:p>
          <a:p>
            <a:pPr>
              <a:spcAft>
                <a:spcPts val="1500"/>
              </a:spcAft>
              <a:defRPr sz="2200">
                <a:solidFill>
                  <a:srgbClr val="26313D"/>
                </a:solidFill>
                <a:latin typeface="Aptos"/>
              </a:defRPr>
            </a:pPr>
            <a:r>
              <a:t>•  The program demonstrates BFS, DFS and A* search on a road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2.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13D"/>
                </a:solidFill>
                <a:latin typeface="Aptos"/>
              </a:defRPr>
            </a:pPr>
            <a:r>
              <a:t>•  Represent road connections as Prolog facts and rules.</a:t>
            </a:r>
          </a:p>
          <a:p>
            <a:pPr>
              <a:spcAft>
                <a:spcPts val="1500"/>
              </a:spcAft>
              <a:defRPr sz="2100">
                <a:solidFill>
                  <a:srgbClr val="26313D"/>
                </a:solidFill>
                <a:latin typeface="Aptos"/>
              </a:defRPr>
            </a:pPr>
            <a:r>
              <a:t>•  Calculate route travel time and estimated cost.</a:t>
            </a:r>
          </a:p>
          <a:p>
            <a:pPr>
              <a:spcAft>
                <a:spcPts val="1500"/>
              </a:spcAft>
              <a:defRPr sz="2100">
                <a:solidFill>
                  <a:srgbClr val="26313D"/>
                </a:solidFill>
                <a:latin typeface="Aptos"/>
              </a:defRPr>
            </a:pPr>
            <a:r>
              <a:t>•  Display route details and allow a user to select a route.</a:t>
            </a:r>
          </a:p>
          <a:p>
            <a:pPr>
              <a:spcAft>
                <a:spcPts val="1500"/>
              </a:spcAft>
              <a:defRPr sz="2100">
                <a:solidFill>
                  <a:srgbClr val="26313D"/>
                </a:solidFill>
                <a:latin typeface="Aptos"/>
              </a:defRPr>
            </a:pPr>
            <a:r>
              <a:t>•  Demonstrate blocked-road handling and graph search algorithms.</a:t>
            </a:r>
          </a:p>
          <a:p>
            <a:pPr>
              <a:spcAft>
                <a:spcPts val="1500"/>
              </a:spcAft>
              <a:defRPr sz="2100">
                <a:solidFill>
                  <a:srgbClr val="26313D"/>
                </a:solidFill>
                <a:latin typeface="Aptos"/>
              </a:defRPr>
            </a:pPr>
            <a:r>
              <a:t>•  Compare the paths found by BFS, DFS and A*.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3. Road Network and Route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9188"/>
                </a:solidFill>
                <a:latin typeface="Aptos"/>
              </a:defRPr>
            </a:pPr>
            <a:r>
              <a:t>ROUTE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B4A"/>
                </a:solidFill>
                <a:latin typeface="Aptos"/>
              </a:defRPr>
            </a:pPr>
            <a:r>
              <a:t>Embilipitiya → Maradana</a:t>
            </a:r>
          </a:p>
          <a:p>
            <a:pPr>
              <a:spcAft>
                <a:spcPts val="800"/>
              </a:spcAft>
              <a:defRPr sz="1800" b="1">
                <a:solidFill>
                  <a:srgbClr val="192B4A"/>
                </a:solidFill>
                <a:latin typeface="Aptos"/>
              </a:defRPr>
            </a:pPr>
            <a:r>
              <a:t>→ Narahenpita → OUSL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3192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t>Normal bus + walk/taxi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68937"/>
                </a:solidFill>
                <a:latin typeface="Aptos"/>
              </a:defRPr>
            </a:pPr>
            <a:r>
              <a:t>Blocked in current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916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9188"/>
                </a:solidFill>
                <a:latin typeface="Aptos"/>
              </a:defRPr>
            </a:pPr>
            <a:r>
              <a:t>ROUTE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4028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B4A"/>
                </a:solidFill>
                <a:latin typeface="Aptos"/>
              </a:defRPr>
            </a:pPr>
            <a:r>
              <a:t>Embilipitiya → Maharagama</a:t>
            </a:r>
          </a:p>
          <a:p>
            <a:pPr>
              <a:spcAft>
                <a:spcPts val="800"/>
              </a:spcAft>
              <a:defRPr sz="1800" b="1">
                <a:solidFill>
                  <a:srgbClr val="192B4A"/>
                </a:solidFill>
                <a:latin typeface="Aptos"/>
              </a:defRPr>
            </a:pPr>
            <a:r>
              <a:t>→ Nugegoda → OUSL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93192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t>Highway bus + normal 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48920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68937"/>
                </a:solidFill>
                <a:latin typeface="Aptos"/>
              </a:defRPr>
            </a:pPr>
            <a:r>
              <a:t>Available in current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630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6916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9188"/>
                </a:solidFill>
                <a:latin typeface="Aptos"/>
              </a:defRPr>
            </a:pPr>
            <a:r>
              <a:t>ROUTE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240280"/>
            <a:ext cx="3017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B4A"/>
                </a:solidFill>
                <a:latin typeface="Aptos"/>
              </a:defRPr>
            </a:pPr>
            <a:r>
              <a:t>Embilipitiya → Matara</a:t>
            </a:r>
          </a:p>
          <a:p>
            <a:pPr>
              <a:spcAft>
                <a:spcPts val="800"/>
              </a:spcAft>
              <a:defRPr sz="1800" b="1">
                <a:solidFill>
                  <a:srgbClr val="192B4A"/>
                </a:solidFill>
                <a:latin typeface="Aptos"/>
              </a:defRPr>
            </a:pPr>
            <a:r>
              <a:t>→ Maradana → Narahenpita</a:t>
            </a:r>
          </a:p>
          <a:p>
            <a:pPr>
              <a:spcAft>
                <a:spcPts val="800"/>
              </a:spcAft>
              <a:defRPr sz="1800" b="1">
                <a:solidFill>
                  <a:srgbClr val="192B4A"/>
                </a:solidFill>
                <a:latin typeface="Aptos"/>
              </a:defRPr>
            </a:pPr>
            <a:r>
              <a:t>→ OUSL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93192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6313D"/>
                </a:solidFill>
                <a:latin typeface="Aptos"/>
              </a:defRPr>
            </a:pPr>
            <a:r>
              <a:t>Bus + train + walk/taxi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48920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68937"/>
                </a:solidFill>
                <a:latin typeface="Aptos"/>
              </a:defRPr>
            </a:pPr>
            <a:r>
              <a:t>Potentially incomplete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4. Prolog Knowledge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F9188"/>
                </a:solidFill>
                <a:latin typeface="Aptos"/>
              </a:defRPr>
            </a:pPr>
            <a:r>
              <a:t>Road fact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394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2B4A"/>
                </a:solidFill>
                <a:latin typeface="Consolas"/>
              </a:defRPr>
            </a:pPr>
            <a:r>
              <a:t>road(From, To, Transport, Time, Cost).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13D"/>
                </a:solidFill>
                <a:latin typeface="Consolas"/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1700" b="0">
                <a:solidFill>
                  <a:srgbClr val="26313D"/>
                </a:solidFill>
                <a:latin typeface="Consolas"/>
              </a:defRPr>
            </a:pPr>
            <a:r>
              <a:t>road(maharagama, nugegoda, normal_bus, 25, 60).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F9188"/>
                </a:solidFill>
                <a:latin typeface="Aptos"/>
              </a:defRPr>
            </a:pPr>
            <a:r>
              <a:t>Key predicates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available_road/5 — filters blocked segments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connected/5 — allows travel in either direction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time/2 and cost/2 — total a supplied path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display_route/1 and start/0 — 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5. Blocked Road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9188"/>
                </a:solidFill>
                <a:latin typeface="Aptos"/>
              </a:defRPr>
            </a:pPr>
            <a:r>
              <a:t>Current 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212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B4A"/>
                </a:solidFill>
                <a:latin typeface="Consolas"/>
              </a:defRPr>
            </a:pPr>
            <a:r>
              <a:t>blocked(embilipitiya, maradana).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5303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6313D"/>
                </a:solidFill>
                <a:latin typeface="Aptos"/>
              </a:defRPr>
            </a:pPr>
            <a:r>
              <a:t>The rule available_road/5 checks that a road exists and that neither direction is listed as blocked.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68937"/>
                </a:solidFill>
                <a:latin typeface="Aptos"/>
              </a:defRPr>
            </a:pPr>
            <a:r>
              <a:t>Important 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Route 1 should fail because its first segment is blocked.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The route-display fallback can print “Route 1 is Blocked.”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But route 3 may also fail: the code has no Maradana → Narahenpita road 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6. Time and Cost Calculation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6313D"/>
                </a:solidFill>
                <a:latin typeface="Aptos"/>
              </a:defRPr>
            </a:pPr>
            <a:r>
              <a:t>•  time([_], 0) and cost([_], 0) are the base cases.</a:t>
            </a:r>
          </a:p>
          <a:p>
            <a:pPr>
              <a:spcAft>
                <a:spcPts val="1500"/>
              </a:spcAft>
              <a:defRPr sz="2000">
                <a:solidFill>
                  <a:srgbClr val="26313D"/>
                </a:solidFill>
                <a:latin typeface="Aptos"/>
              </a:defRPr>
            </a:pPr>
            <a:r>
              <a:t>•  Recursive rules add the time or cost for each consecutive pair of locations.</a:t>
            </a:r>
          </a:p>
          <a:p>
            <a:pPr>
              <a:spcAft>
                <a:spcPts val="1500"/>
              </a:spcAft>
              <a:defRPr sz="2000">
                <a:solidFill>
                  <a:srgbClr val="26313D"/>
                </a:solidFill>
                <a:latin typeface="Aptos"/>
              </a:defRPr>
            </a:pPr>
            <a:r>
              <a:t>•  time/2 and cost/2 use available_road/5, so they depend on a valid directed fact in the supplied path.</a:t>
            </a:r>
          </a:p>
          <a:p>
            <a:pPr>
              <a:spcAft>
                <a:spcPts val="1500"/>
              </a:spcAft>
              <a:defRPr sz="2000">
                <a:solidFill>
                  <a:srgbClr val="26313D"/>
                </a:solidFill>
                <a:latin typeface="Aptos"/>
              </a:defRPr>
            </a:pPr>
            <a:r>
              <a:t>•  display_details/1 uses connected/5 and prints transport, minutes and rupees.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68937"/>
                </a:solidFill>
                <a:latin typeface="Aptos"/>
              </a:defRPr>
            </a:pPr>
            <a:r>
              <a:t>These are estimates from the facts in the program, not live transport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7. BFS and DFS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9188"/>
                </a:solidFill>
                <a:latin typeface="Aptos"/>
              </a:defRPr>
            </a:pPr>
            <a:r>
              <a:t>BFS — Breadth-First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13D"/>
                </a:solidFill>
                <a:latin typeface="Aptos"/>
              </a:defRPr>
            </a:pPr>
            <a:r>
              <a:t>•  Uses a queue (FIFO).</a:t>
            </a:r>
          </a:p>
          <a:p>
            <a:pPr>
              <a:spcAft>
                <a:spcPts val="1500"/>
              </a:spcAft>
              <a:defRPr sz="1800">
                <a:solidFill>
                  <a:srgbClr val="26313D"/>
                </a:solidFill>
                <a:latin typeface="Aptos"/>
              </a:defRPr>
            </a:pPr>
            <a:r>
              <a:t>•  Explores paths by increasing number of edges.</a:t>
            </a:r>
          </a:p>
          <a:p>
            <a:pPr>
              <a:spcAft>
                <a:spcPts val="1500"/>
              </a:spcAft>
              <a:defRPr sz="1800">
                <a:solidFill>
                  <a:srgbClr val="26313D"/>
                </a:solidFill>
                <a:latin typeface="Aptos"/>
              </a:defRPr>
            </a:pPr>
            <a:r>
              <a:t>•  Finds a path with the fewest edges in an unweighted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9188"/>
                </a:solidFill>
                <a:latin typeface="Aptos"/>
              </a:defRPr>
            </a:pPr>
            <a:r>
              <a:t>DFS — Depth-First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13D"/>
                </a:solidFill>
                <a:latin typeface="Aptos"/>
              </a:defRPr>
            </a:pPr>
            <a:r>
              <a:t>•  Explores one branch deeply before backtracking.</a:t>
            </a:r>
          </a:p>
          <a:p>
            <a:pPr>
              <a:spcAft>
                <a:spcPts val="1500"/>
              </a:spcAft>
              <a:defRPr sz="1800">
                <a:solidFill>
                  <a:srgbClr val="26313D"/>
                </a:solidFill>
                <a:latin typeface="Aptos"/>
              </a:defRPr>
            </a:pPr>
            <a:r>
              <a:t>•  Uses recursive search and a visited-path list.</a:t>
            </a:r>
          </a:p>
          <a:p>
            <a:pPr>
              <a:spcAft>
                <a:spcPts val="1500"/>
              </a:spcAft>
              <a:defRPr sz="1800">
                <a:solidFill>
                  <a:srgbClr val="26313D"/>
                </a:solidFill>
                <a:latin typeface="Aptos"/>
              </a:defRPr>
            </a:pPr>
            <a:r>
              <a:t>•  Does not guarantee the shortest or cheapest route.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8. A*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9188"/>
                </a:solidFill>
                <a:latin typeface="Aptos"/>
              </a:defRPr>
            </a:pPr>
            <a:r>
              <a:t>f(n) = g(n) + h(n)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6313D"/>
                </a:solidFill>
                <a:latin typeface="Aptos"/>
              </a:defRPr>
            </a:pPr>
            <a:r>
              <a:t>•  g(n): accumulated travel time in this implementation.</a:t>
            </a:r>
          </a:p>
          <a:p>
            <a:pPr>
              <a:spcAft>
                <a:spcPts val="1500"/>
              </a:spcAft>
              <a:defRPr sz="2000">
                <a:solidFill>
                  <a:srgbClr val="26313D"/>
                </a:solidFill>
                <a:latin typeface="Aptos"/>
              </a:defRPr>
            </a:pPr>
            <a:r>
              <a:t>•  h(n): estimated remaining travel time from heuristic/2 facts.</a:t>
            </a:r>
          </a:p>
          <a:p>
            <a:pPr>
              <a:spcAft>
                <a:spcPts val="1500"/>
              </a:spcAft>
              <a:defRPr sz="2000">
                <a:solidFill>
                  <a:srgbClr val="26313D"/>
                </a:solidFill>
                <a:latin typeface="Aptos"/>
              </a:defRPr>
            </a:pPr>
            <a:r>
              <a:t>•  The open list is sorted by f-score before expanding the next node.</a:t>
            </a:r>
          </a:p>
          <a:p>
            <a:pPr>
              <a:spcAft>
                <a:spcPts val="1500"/>
              </a:spcAft>
              <a:defRPr sz="2000">
                <a:solidFill>
                  <a:srgbClr val="26313D"/>
                </a:solidFill>
                <a:latin typeface="Aptos"/>
              </a:defRPr>
            </a:pPr>
            <a:r>
              <a:t>•  The returned fourth argument is accumulated time, despite being named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68937"/>
                </a:solidFill>
                <a:latin typeface="Aptos"/>
              </a:defRPr>
            </a:pPr>
            <a:r>
              <a:t>A* is only optimal under suitable conditions, including an admissible heuristic and correct graph-cost handling.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9. Algorithm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6313D"/>
                </a:solidFill>
                <a:latin typeface="Aptos"/>
              </a:defRPr>
            </a:pPr>
            <a:r>
              <a:t>Expected from the current code: results depend on connected roads and facts.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5740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5760720"/>
              </a:tblGrid>
              <a:tr h="7543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Algorithm</a:t>
                      </a:r>
                    </a:p>
                  </a:txBody>
                  <a:tcPr marL="109728" marR="91440">
                    <a:solidFill>
                      <a:srgbClr val="19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Search priority</a:t>
                      </a:r>
                    </a:p>
                  </a:txBody>
                  <a:tcPr marL="109728" marR="91440">
                    <a:solidFill>
                      <a:srgbClr val="19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returns here</a:t>
                      </a:r>
                    </a:p>
                  </a:txBody>
                  <a:tcPr marL="109728" marR="91440">
                    <a:solidFill>
                      <a:srgbClr val="192B4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BFS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Fewest edges first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A path; not necessarily minimum time/cost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DFS</a:t>
                      </a:r>
                    </a:p>
                  </a:txBody>
                  <a:tcPr marL="109728" marR="91440"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Depth-first</a:t>
                      </a:r>
                    </a:p>
                  </a:txBody>
                  <a:tcPr marL="109728" marR="91440"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A path; not necessarily minimum time/cost</a:t>
                      </a:r>
                    </a:p>
                  </a:txBody>
                  <a:tcPr marL="109728" marR="91440">
                    <a:solidFill>
                      <a:srgbClr val="E9F0F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A*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g(time) + h(time)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13D"/>
                          </a:solidFill>
                          <a:latin typeface="Aptos"/>
                        </a:defRPr>
                      </a:pPr>
                      <a:r>
                        <a:t>Path selected using estimated time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3949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68937"/>
                </a:solidFill>
                <a:latin typeface="Aptos"/>
              </a:defRPr>
            </a:pPr>
            <a:r>
              <a:t>Do not claim a successful Route 3 or final numeric comparison until the missing road fact and algorithm results are checked.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92B4A"/>
                </a:solidFill>
                <a:latin typeface="Aptos"/>
              </a:defRPr>
            </a:pPr>
            <a:r>
              <a:t>10. Limitations and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4864"/>
          </a:xfrm>
          <a:prstGeom prst="rect">
            <a:avLst/>
          </a:prstGeom>
          <a:solidFill>
            <a:srgbClr val="1F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43891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1F9188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Route 3 is incomplete: add a valid Maradana–Narahenpita segment (or correct the intended connection).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time/2 and cost/2 should use connected/5 or the same bidirectional availability rule as the search.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A* uses time as g-cost, but heuristic values need to be consistent and admissible; current values are not proven to be.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sort/ predsort comparison only compares f-values; equal-score nodes may be collapsed by predsort.</a:t>
            </a:r>
          </a:p>
          <a:p>
            <a:pPr>
              <a:spcAft>
                <a:spcPts val="1500"/>
              </a:spcAft>
              <a:defRPr sz="1700">
                <a:solidFill>
                  <a:srgbClr val="26313D"/>
                </a:solidFill>
                <a:latin typeface="Aptos"/>
              </a:defRPr>
            </a:pPr>
            <a:r>
              <a:t>•  Road times and fares are fixed estimates; no live timetable, traffic or fare API is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11. Demonstration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9BDAD3"/>
                </a:solidFill>
                <a:latin typeface="Aptos"/>
              </a:defRPr>
            </a:pPr>
            <a:r>
              <a:t>Live demo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120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?- display_all_routes.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?- bfs(embilipitiya, open_university, P).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?- dfs(embilipitiya, open_university, P).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?- astar(embilipitiya, open_university, P, C).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?- compare_algorithms.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9BDAD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Prolog facts and rules represent a small road network.</a:t>
            </a:r>
          </a:p>
          <a:p>
            <a:pPr>
              <a:spcAft>
                <a:spcPts val="15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The program demonstrates route display, blocked roads and search strategies.</a:t>
            </a:r>
          </a:p>
          <a:p>
            <a:pPr>
              <a:spcAft>
                <a:spcPts val="15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Correctness depends on complete road data and consistent cost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F6C78"/>
                </a:solidFill>
                <a:latin typeface="Aptos"/>
              </a:defRPr>
            </a:pPr>
            <a:r>
              <a:t>OUSL STUDENT MAP  •  PROLOG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C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